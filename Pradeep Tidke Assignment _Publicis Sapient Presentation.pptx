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99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7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17"/>
  </p:normalViewPr>
  <p:slideViewPr>
    <p:cSldViewPr snapToGrid="0">
      <p:cViewPr varScale="1">
        <p:scale>
          <a:sx n="149" d="100"/>
          <a:sy n="149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6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0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7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97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6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37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5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94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83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9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5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7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0534-81D7-2E83-348D-57F1B17F8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fkGroteskNeue"/>
              </a:rPr>
              <a:t>Named Entity Recognition (NER) - Case Study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968B9-3EBF-5463-28CF-A6B23B460F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en-IN" b="0" i="0" dirty="0">
              <a:effectLst/>
              <a:latin typeface="fkGroteskNeue"/>
            </a:endParaRPr>
          </a:p>
          <a:p>
            <a:pPr algn="r"/>
            <a:r>
              <a:rPr lang="en-IN" b="0" i="0" dirty="0">
                <a:effectLst/>
                <a:latin typeface="fkGroteskNeue"/>
              </a:rPr>
              <a:t>Submitted by: Pradeep </a:t>
            </a:r>
            <a:r>
              <a:rPr lang="en-IN" b="0" i="0" dirty="0" err="1">
                <a:effectLst/>
                <a:latin typeface="fkGroteskNeue"/>
              </a:rPr>
              <a:t>Tidke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4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BD31-5C51-A564-D48F-DA88889F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 &amp;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7883-2FDE-77D6-8743-E2493A9E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Project Title:</a:t>
            </a:r>
            <a:r>
              <a:rPr lang="en-IN" dirty="0"/>
              <a:t> Named Entity Recognition – End-to-End ML Solution</a:t>
            </a:r>
          </a:p>
          <a:p>
            <a:r>
              <a:rPr lang="en-IN" b="1" dirty="0"/>
              <a:t>Case Study Objectives: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Build an NER model</a:t>
            </a:r>
            <a:r>
              <a:rPr lang="en-IN" dirty="0"/>
              <a:t> to detect named entities from sentences using sequence </a:t>
            </a:r>
            <a:r>
              <a:rPr lang="en-IN" dirty="0" err="1"/>
              <a:t>labeling</a:t>
            </a:r>
            <a:r>
              <a:rPr lang="en-IN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Key tasks:</a:t>
            </a:r>
            <a:endParaRPr lang="en-I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Preprocess dataset (ignore POS tags, focus on mapping word to NER tag).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Understand and implement the IOB2 tagging scheme.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Split data into train, validation, and test sets.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Develop a </a:t>
            </a:r>
            <a:r>
              <a:rPr lang="en-IN" b="1" dirty="0"/>
              <a:t>baseline model</a:t>
            </a:r>
            <a:r>
              <a:rPr lang="en-IN" dirty="0"/>
              <a:t> and evaluate using appropriate metrics.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baseline shortcomings and propose an </a:t>
            </a:r>
            <a:r>
              <a:rPr lang="en-IN" b="1" dirty="0"/>
              <a:t>advanced model</a:t>
            </a:r>
            <a:r>
              <a:rPr lang="en-IN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Design and explain </a:t>
            </a:r>
            <a:r>
              <a:rPr lang="en-IN" b="1" dirty="0"/>
              <a:t>ML system architecture for production deployment</a:t>
            </a:r>
            <a:r>
              <a:rPr lang="en-IN" dirty="0"/>
              <a:t>—cover canary build, model monitoring, stress/load testing, audit, and automation.</a:t>
            </a:r>
          </a:p>
          <a:p>
            <a:r>
              <a:rPr lang="en-IN" b="1" dirty="0"/>
              <a:t>Purpose:</a:t>
            </a:r>
            <a:r>
              <a:rPr lang="en-IN" dirty="0"/>
              <a:t> Clearly explain approach, findings, and system design, supported by a </a:t>
            </a:r>
            <a:r>
              <a:rPr lang="en-IN" dirty="0" err="1"/>
              <a:t>Jupyter</a:t>
            </a:r>
            <a:r>
              <a:rPr lang="en-IN" dirty="0"/>
              <a:t> Notebook and PowerPoint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54156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B008-48AC-3B7C-B240-C26000FE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1904-444F-9FBC-F35E-458E03E8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Dataset Name:</a:t>
            </a:r>
            <a:r>
              <a:rPr lang="en-IN" dirty="0"/>
              <a:t> </a:t>
            </a:r>
            <a:r>
              <a:rPr lang="en-IN" dirty="0" err="1"/>
              <a:t>nerdataset.csv</a:t>
            </a:r>
            <a:endParaRPr lang="en-IN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Columns:</a:t>
            </a:r>
            <a:endParaRPr lang="en-IN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Sentence:</a:t>
            </a:r>
            <a:r>
              <a:rPr lang="en-IN" dirty="0"/>
              <a:t> Sentence number (sequence of the sentence)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Word:</a:t>
            </a:r>
            <a:r>
              <a:rPr lang="en-IN" dirty="0"/>
              <a:t> Individual word to classify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POS:</a:t>
            </a:r>
            <a:r>
              <a:rPr lang="en-IN" dirty="0"/>
              <a:t> Part-of-Speech tag (ignore for this study)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Tag:</a:t>
            </a:r>
            <a:r>
              <a:rPr lang="en-IN" dirty="0"/>
              <a:t> NER tag for each word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Tagging Scheme:</a:t>
            </a:r>
            <a:r>
              <a:rPr lang="en-IN" dirty="0"/>
              <a:t> IOB2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</a:t>
            </a:r>
            <a:r>
              <a:rPr lang="en-IN" dirty="0"/>
              <a:t>: Beginning of an entity chunk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</a:t>
            </a:r>
            <a:r>
              <a:rPr lang="en-IN" dirty="0"/>
              <a:t>: Inside the same entity chunk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</a:t>
            </a:r>
            <a:r>
              <a:rPr lang="en-IN" dirty="0"/>
              <a:t>: Outside any entity chunk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Example mapping:</a:t>
            </a:r>
            <a:br>
              <a:rPr lang="en-IN" dirty="0"/>
            </a:br>
            <a:r>
              <a:rPr lang="en-IN" i="1" dirty="0"/>
              <a:t>Today</a:t>
            </a:r>
            <a:r>
              <a:rPr lang="en-IN" dirty="0"/>
              <a:t> (O), </a:t>
            </a:r>
            <a:r>
              <a:rPr lang="en-IN" i="1" dirty="0"/>
              <a:t>Michael</a:t>
            </a:r>
            <a:r>
              <a:rPr lang="en-IN" dirty="0"/>
              <a:t> (B-PER), </a:t>
            </a:r>
            <a:r>
              <a:rPr lang="en-IN" i="1" dirty="0"/>
              <a:t>Jackson</a:t>
            </a:r>
            <a:r>
              <a:rPr lang="en-IN" dirty="0"/>
              <a:t> (I-PER), </a:t>
            </a:r>
            <a:r>
              <a:rPr lang="en-IN" i="1" dirty="0"/>
              <a:t>and</a:t>
            </a:r>
            <a:r>
              <a:rPr lang="en-IN" dirty="0"/>
              <a:t> (O), </a:t>
            </a:r>
            <a:r>
              <a:rPr lang="en-IN" i="1" dirty="0"/>
              <a:t>Mark</a:t>
            </a:r>
            <a:r>
              <a:rPr lang="en-IN" dirty="0"/>
              <a:t> (B-PER), </a:t>
            </a:r>
            <a:r>
              <a:rPr lang="en-IN" i="1" dirty="0"/>
              <a:t>ate</a:t>
            </a:r>
            <a:r>
              <a:rPr lang="en-IN" dirty="0"/>
              <a:t> (O), </a:t>
            </a:r>
            <a:r>
              <a:rPr lang="en-IN" i="1" dirty="0"/>
              <a:t>lasagna</a:t>
            </a:r>
            <a:r>
              <a:rPr lang="en-IN" dirty="0"/>
              <a:t> (O), </a:t>
            </a:r>
            <a:r>
              <a:rPr lang="en-IN" i="1" dirty="0"/>
              <a:t>at</a:t>
            </a:r>
            <a:r>
              <a:rPr lang="en-IN" dirty="0"/>
              <a:t> (O), </a:t>
            </a:r>
            <a:r>
              <a:rPr lang="en-IN" i="1" dirty="0"/>
              <a:t>New</a:t>
            </a:r>
            <a:r>
              <a:rPr lang="en-IN" dirty="0"/>
              <a:t> (B-geo), </a:t>
            </a:r>
            <a:r>
              <a:rPr lang="en-IN" i="1" dirty="0"/>
              <a:t>Delhi</a:t>
            </a:r>
            <a:r>
              <a:rPr lang="en-IN" dirty="0"/>
              <a:t> (I-geo), </a:t>
            </a:r>
            <a:r>
              <a:rPr lang="en-IN" i="1" dirty="0"/>
              <a:t>.</a:t>
            </a:r>
            <a:r>
              <a:rPr lang="en-IN" dirty="0"/>
              <a:t> (O)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NER Task:</a:t>
            </a:r>
            <a:r>
              <a:rPr lang="en-IN" dirty="0"/>
              <a:t> Assign the correct entity tag to each word within a sentence.</a:t>
            </a:r>
          </a:p>
        </p:txBody>
      </p:sp>
    </p:spTree>
    <p:extLst>
      <p:ext uri="{BB962C8B-B14F-4D97-AF65-F5344CB8AC3E}">
        <p14:creationId xmlns:p14="http://schemas.microsoft.com/office/powerpoint/2010/main" val="97744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09B4-6C5C-335B-5B58-9BDFC16E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Tasks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7F70-EF6E-F57F-132E-0C0C9998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Core NER Solution Tasks: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Divide dataset into three parts: </a:t>
            </a:r>
            <a:r>
              <a:rPr lang="en-IN" b="1" dirty="0"/>
              <a:t>train, validation, test</a:t>
            </a:r>
            <a:r>
              <a:rPr lang="en-IN" dirty="0"/>
              <a:t> (at least 20 samples each)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Pre-process data:</a:t>
            </a:r>
            <a:r>
              <a:rPr lang="en-IN" dirty="0"/>
              <a:t> Map each sentence’s words to their respective NER tags, ignoring the POS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Develop baseline model:</a:t>
            </a:r>
            <a:r>
              <a:rPr lang="en-IN" dirty="0"/>
              <a:t> Input is list of words in a sentence, output is predicted NER tag per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Evaluate baseline:</a:t>
            </a:r>
            <a:r>
              <a:rPr lang="en-IN" dirty="0"/>
              <a:t> Identify metrics for model performance (Precision, Recall, F1-score,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Shortcomings analysis: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where the baseline model fails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Improve model:</a:t>
            </a:r>
            <a:r>
              <a:rPr lang="en-IN" dirty="0"/>
              <a:t> Build an advanced model that overcomes baseline’s 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Future scope:</a:t>
            </a:r>
            <a:r>
              <a:rPr lang="en-IN" dirty="0"/>
              <a:t> Suggest further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System Design &amp; Deployment Tasks: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Design architecture to deploy ML model in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Explain </a:t>
            </a:r>
            <a:r>
              <a:rPr lang="en-IN" b="1" dirty="0"/>
              <a:t>canary build</a:t>
            </a:r>
            <a:r>
              <a:rPr lang="en-IN" dirty="0"/>
              <a:t> approach for deploying models safely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Define </a:t>
            </a:r>
            <a:r>
              <a:rPr lang="en-IN" b="1" dirty="0"/>
              <a:t>ML model monitoring strategy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Address </a:t>
            </a:r>
            <a:r>
              <a:rPr lang="en-IN" b="1" dirty="0"/>
              <a:t>load and stress testing</a:t>
            </a:r>
            <a:r>
              <a:rPr lang="en-IN" dirty="0"/>
              <a:t> 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Show framework to </a:t>
            </a:r>
            <a:r>
              <a:rPr lang="en-IN" b="1" dirty="0"/>
              <a:t>track, monitor, and audit</a:t>
            </a:r>
            <a:r>
              <a:rPr lang="en-IN" dirty="0"/>
              <a:t> ML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Explain </a:t>
            </a:r>
            <a:r>
              <a:rPr lang="en-IN" b="1" dirty="0"/>
              <a:t>continuous delivery/automation</a:t>
            </a:r>
            <a:r>
              <a:rPr lang="en-IN" dirty="0"/>
              <a:t> for ML tasks</a:t>
            </a:r>
          </a:p>
          <a:p>
            <a:r>
              <a:rPr lang="en-IN" b="1" dirty="0"/>
              <a:t>Deliverables: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 </a:t>
            </a:r>
            <a:r>
              <a:rPr lang="en-IN" dirty="0" err="1"/>
              <a:t>Jupyter</a:t>
            </a:r>
            <a:r>
              <a:rPr lang="en-IN" dirty="0"/>
              <a:t> notebook (code + results)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 PowerPoint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System design architecture diagram and narrative</a:t>
            </a:r>
          </a:p>
        </p:txBody>
      </p:sp>
    </p:spTree>
    <p:extLst>
      <p:ext uri="{BB962C8B-B14F-4D97-AF65-F5344CB8AC3E}">
        <p14:creationId xmlns:p14="http://schemas.microsoft.com/office/powerpoint/2010/main" val="60444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AC20-F64D-B3C2-A604-FD724F48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90470-C697-9E40-1263-49A7E7EA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Steps followed for preprocessing: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Loaded the </a:t>
            </a:r>
            <a:r>
              <a:rPr lang="en-IN" dirty="0" err="1"/>
              <a:t>nerdataset.csv</a:t>
            </a:r>
            <a:r>
              <a:rPr lang="en-IN" dirty="0"/>
              <a:t> file and extracted relevant columns: Sentence, Word, Tag (removed missing and irrelevant rows)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Grouped data by sentence number to aggregate each sentence’s list of words and tags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Applied an extra sanity filter: ensured all words and tags in each group are valid strings (avoids </a:t>
            </a:r>
            <a:r>
              <a:rPr lang="en-IN" dirty="0" err="1"/>
              <a:t>NaN</a:t>
            </a:r>
            <a:r>
              <a:rPr lang="en-IN" dirty="0"/>
              <a:t>/None issues)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Randomly shuffled dataset to avoid sequential bias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Split into three sets: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Train:</a:t>
            </a:r>
            <a:r>
              <a:rPr lang="en-IN" dirty="0"/>
              <a:t> ~70% of sentences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Validation:</a:t>
            </a:r>
            <a:r>
              <a:rPr lang="en-IN" dirty="0"/>
              <a:t> ~10%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Test:</a:t>
            </a:r>
            <a:r>
              <a:rPr lang="en-IN" dirty="0"/>
              <a:t> ~20%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Result: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grouped and ready for ML model input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Ensures unbiased, robust evaluation across different partitions (train, </a:t>
            </a:r>
            <a:r>
              <a:rPr lang="en-IN" dirty="0" err="1"/>
              <a:t>val</a:t>
            </a:r>
            <a:r>
              <a:rPr lang="en-IN" dirty="0"/>
              <a:t>, test)</a:t>
            </a:r>
          </a:p>
        </p:txBody>
      </p:sp>
    </p:spTree>
    <p:extLst>
      <p:ext uri="{BB962C8B-B14F-4D97-AF65-F5344CB8AC3E}">
        <p14:creationId xmlns:p14="http://schemas.microsoft.com/office/powerpoint/2010/main" val="155607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C636-DD98-8D5E-4E44-89276B34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Baseline Model Approach (CRF)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C198-1806-FB62-548F-640E6CE70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Baseline Model:</a:t>
            </a:r>
            <a:r>
              <a:rPr lang="en-IN" dirty="0"/>
              <a:t> Conditional Random Field (CRF)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Feature Extraction: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Lowercase word, position in sentence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Whether the word is uppercase or title 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Whether the word is a digit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Contextual features: Previous/next word, capitalization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Evaluation Metrics: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Precision, Recall, F1-score</a:t>
            </a:r>
            <a:r>
              <a:rPr lang="en-IN" dirty="0"/>
              <a:t> (micro, macro, weighted)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Entity class-wise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Key Outcome: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model achieves very high accuracy for frequent classes like 'O', 'B-geo', 'B-</a:t>
            </a:r>
            <a:r>
              <a:rPr lang="en-IN" dirty="0" err="1"/>
              <a:t>gpe</a:t>
            </a:r>
            <a:r>
              <a:rPr lang="en-IN" dirty="0"/>
              <a:t>', but fails for rare classes.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 </a:t>
            </a:r>
            <a:r>
              <a:rPr lang="en-IN" b="1" dirty="0"/>
              <a:t>overall accuracy</a:t>
            </a:r>
            <a:r>
              <a:rPr lang="en-IN" dirty="0"/>
              <a:t> is misleading—real utility is in F1-score for actual entities, not just majority class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5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55A0-E0AA-EC48-19F3-6FF004E7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Baseline Model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5F969-A246-BE8D-D3A5-1F1ADFE1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8850" y="800129"/>
            <a:ext cx="5195131" cy="529302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CRF Model Evaluation (Validation Data): </a:t>
            </a:r>
            <a:r>
              <a:rPr lang="en-IN" b="0" i="1" dirty="0">
                <a:effectLst/>
                <a:latin typeface="fkGroteskNeue"/>
              </a:rPr>
              <a:t>Given in table</a:t>
            </a:r>
            <a:endParaRPr lang="en-US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Total accuracy: 0.97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Macro </a:t>
            </a:r>
            <a:r>
              <a:rPr lang="en-IN" b="0" i="0" dirty="0" err="1">
                <a:effectLst/>
                <a:latin typeface="fkGroteskNeue"/>
              </a:rPr>
              <a:t>avg</a:t>
            </a:r>
            <a:r>
              <a:rPr lang="en-IN" b="0" i="0" dirty="0">
                <a:effectLst/>
                <a:latin typeface="fkGroteskNeue"/>
              </a:rPr>
              <a:t> F1-score: 0.60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Weighted </a:t>
            </a:r>
            <a:r>
              <a:rPr lang="en-IN" b="0" i="0" dirty="0" err="1">
                <a:effectLst/>
                <a:latin typeface="fkGroteskNeue"/>
              </a:rPr>
              <a:t>avg</a:t>
            </a:r>
            <a:r>
              <a:rPr lang="en-IN" b="0" i="0" dirty="0">
                <a:effectLst/>
                <a:latin typeface="fkGroteskNeue"/>
              </a:rPr>
              <a:t> F1-score: 0.97</a:t>
            </a:r>
          </a:p>
          <a:p>
            <a:pPr algn="l"/>
            <a:r>
              <a:rPr lang="en-IN" b="0" i="0" dirty="0">
                <a:effectLst/>
                <a:latin typeface="fkGroteskNeue"/>
              </a:rPr>
              <a:t>Key observations: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Model achieves very high scores for majority classes (O, B-geo, B-</a:t>
            </a:r>
            <a:r>
              <a:rPr lang="en-IN" b="0" i="0" dirty="0" err="1">
                <a:effectLst/>
                <a:latin typeface="fkGroteskNeue"/>
              </a:rPr>
              <a:t>gpe</a:t>
            </a:r>
            <a:r>
              <a:rPr lang="en-IN" b="0" i="0" dirty="0">
                <a:effectLst/>
                <a:latin typeface="fkGroteskNeue"/>
              </a:rPr>
              <a:t>, B-</a:t>
            </a:r>
            <a:r>
              <a:rPr lang="en-IN" b="0" i="0" dirty="0" err="1">
                <a:effectLst/>
                <a:latin typeface="fkGroteskNeue"/>
              </a:rPr>
              <a:t>tim</a:t>
            </a:r>
            <a:r>
              <a:rPr lang="en-IN" b="0" i="0" dirty="0">
                <a:effectLst/>
                <a:latin typeface="fkGroteskNeue"/>
              </a:rPr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Entity-level performance (macro F1): drops due to poor detection on rare classes like B-art (0.09), B-</a:t>
            </a:r>
            <a:r>
              <a:rPr lang="en-IN" b="0" i="0" dirty="0" err="1">
                <a:effectLst/>
                <a:latin typeface="fkGroteskNeue"/>
              </a:rPr>
              <a:t>nat</a:t>
            </a:r>
            <a:r>
              <a:rPr lang="en-IN" b="0" i="0" dirty="0">
                <a:effectLst/>
                <a:latin typeface="fkGroteskNeue"/>
              </a:rPr>
              <a:t> (0.21), I-art (0.17), I-</a:t>
            </a:r>
            <a:r>
              <a:rPr lang="en-IN" b="0" i="0" dirty="0" err="1">
                <a:effectLst/>
                <a:latin typeface="fkGroteskNeue"/>
              </a:rPr>
              <a:t>nat</a:t>
            </a:r>
            <a:r>
              <a:rPr lang="en-IN" b="0" i="0" dirty="0">
                <a:effectLst/>
                <a:latin typeface="fkGroteskNeue"/>
              </a:rPr>
              <a:t> (0.00).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Imbalanced data: Despite high accuracy, the model fails on minority entities—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real-world NER requires improvement for production readiness.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7ED929-D9EC-C64F-6237-BBEA34E57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416440"/>
              </p:ext>
            </p:extLst>
          </p:nvPr>
        </p:nvGraphicFramePr>
        <p:xfrm>
          <a:off x="8673981" y="851726"/>
          <a:ext cx="3115799" cy="5145403"/>
        </p:xfrm>
        <a:graphic>
          <a:graphicData uri="http://schemas.openxmlformats.org/drawingml/2006/table">
            <a:tbl>
              <a:tblPr/>
              <a:tblGrid>
                <a:gridCol w="752030">
                  <a:extLst>
                    <a:ext uri="{9D8B030D-6E8A-4147-A177-3AD203B41FA5}">
                      <a16:colId xmlns:a16="http://schemas.microsoft.com/office/drawing/2014/main" val="195537294"/>
                    </a:ext>
                  </a:extLst>
                </a:gridCol>
                <a:gridCol w="692210">
                  <a:extLst>
                    <a:ext uri="{9D8B030D-6E8A-4147-A177-3AD203B41FA5}">
                      <a16:colId xmlns:a16="http://schemas.microsoft.com/office/drawing/2014/main" val="1927878619"/>
                    </a:ext>
                  </a:extLst>
                </a:gridCol>
                <a:gridCol w="572568">
                  <a:extLst>
                    <a:ext uri="{9D8B030D-6E8A-4147-A177-3AD203B41FA5}">
                      <a16:colId xmlns:a16="http://schemas.microsoft.com/office/drawing/2014/main" val="642417953"/>
                    </a:ext>
                  </a:extLst>
                </a:gridCol>
                <a:gridCol w="538385">
                  <a:extLst>
                    <a:ext uri="{9D8B030D-6E8A-4147-A177-3AD203B41FA5}">
                      <a16:colId xmlns:a16="http://schemas.microsoft.com/office/drawing/2014/main" val="1931321390"/>
                    </a:ext>
                  </a:extLst>
                </a:gridCol>
                <a:gridCol w="560606">
                  <a:extLst>
                    <a:ext uri="{9D8B030D-6E8A-4147-A177-3AD203B41FA5}">
                      <a16:colId xmlns:a16="http://schemas.microsoft.com/office/drawing/2014/main" val="4038803717"/>
                    </a:ext>
                  </a:extLst>
                </a:gridCol>
              </a:tblGrid>
              <a:tr h="613274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Entity/Tag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effectLst/>
                        </a:rPr>
                        <a:t>Precision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Recall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F1-score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Support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933149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B-geo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0.85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3870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48495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B-</a:t>
                      </a:r>
                      <a:r>
                        <a:rPr lang="en-IN" sz="1200" dirty="0" err="1">
                          <a:effectLst/>
                        </a:rPr>
                        <a:t>gpe</a:t>
                      </a:r>
                      <a:endParaRPr lang="en-IN" sz="1200" dirty="0">
                        <a:effectLst/>
                      </a:endParaRP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0.94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0.94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1528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364833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B-tim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0.84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2056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572954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B-per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0.83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0.77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0.80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1594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53306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B-org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0.79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0.68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0.73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2023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45709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B-eve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0.56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0.31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0.40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29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620954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B-art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0.50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0.05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0.09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41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043598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B-nat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0.27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0.17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0.21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18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446780"/>
                  </a:ext>
                </a:extLst>
              </a:tr>
              <a:tr h="374029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O (non-entity)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0.99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88,663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786374"/>
                  </a:ext>
                </a:extLst>
              </a:tr>
              <a:tr h="1053935">
                <a:tc gridSpan="5"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(Other I-tags and minor classes mostly F1 &lt; 0.20 or near zero)</a:t>
                      </a: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800" dirty="0">
                        <a:effectLst/>
                      </a:endParaRP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800">
                        <a:effectLst/>
                      </a:endParaRP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800">
                        <a:effectLst/>
                      </a:endParaRP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800" dirty="0">
                        <a:effectLst/>
                      </a:endParaRPr>
                    </a:p>
                  </a:txBody>
                  <a:tcPr marL="60101" marR="60101" marT="60101" marB="6010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35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75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A49F-FCCA-62A1-C52F-72C8478E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Shortcomings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A12F-72D3-8B56-F788-8525001B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"/>
            <a:ext cx="7315200" cy="668281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Strong performance on frequent entities:</a:t>
            </a:r>
            <a:br>
              <a:rPr lang="en-IN" dirty="0"/>
            </a:br>
            <a:r>
              <a:rPr lang="en-IN" dirty="0"/>
              <a:t>The CRF baseline achieves </a:t>
            </a:r>
            <a:r>
              <a:rPr lang="en-IN" b="1" dirty="0"/>
              <a:t>high F1-scores (0.88–0.99)</a:t>
            </a:r>
            <a:r>
              <a:rPr lang="en-IN" dirty="0"/>
              <a:t> for well-represented tags like O (non-entity), B-geo, B-</a:t>
            </a:r>
            <a:r>
              <a:rPr lang="en-IN" dirty="0" err="1"/>
              <a:t>gpe</a:t>
            </a:r>
            <a:r>
              <a:rPr lang="en-IN" dirty="0"/>
              <a:t>, and B-</a:t>
            </a:r>
            <a:r>
              <a:rPr lang="en-IN" dirty="0" err="1"/>
              <a:t>tim.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Very poor results for rare entity types:</a:t>
            </a:r>
            <a:br>
              <a:rPr lang="en-IN" dirty="0"/>
            </a:br>
            <a:r>
              <a:rPr lang="en-IN" dirty="0"/>
              <a:t>Entities such as B-art, B-</a:t>
            </a:r>
            <a:r>
              <a:rPr lang="en-IN" dirty="0" err="1"/>
              <a:t>nat</a:t>
            </a:r>
            <a:r>
              <a:rPr lang="en-IN" dirty="0"/>
              <a:t>, I-</a:t>
            </a:r>
            <a:r>
              <a:rPr lang="en-IN" dirty="0" err="1"/>
              <a:t>nat</a:t>
            </a:r>
            <a:r>
              <a:rPr lang="en-IN" dirty="0"/>
              <a:t>, and I-art all have </a:t>
            </a:r>
            <a:r>
              <a:rPr lang="en-IN" b="1" dirty="0"/>
              <a:t>F1-scores &lt; 0.22</a:t>
            </a:r>
            <a:r>
              <a:rPr lang="en-IN" dirty="0"/>
              <a:t> and very low recall, indicating </a:t>
            </a:r>
            <a:r>
              <a:rPr lang="en-IN" b="1" dirty="0"/>
              <a:t>inability to learn minority labels</a:t>
            </a:r>
            <a:r>
              <a:rPr lang="en-IN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Misleading high accuracy:</a:t>
            </a:r>
            <a:br>
              <a:rPr lang="en-IN" dirty="0"/>
            </a:br>
            <a:r>
              <a:rPr lang="en-IN" dirty="0"/>
              <a:t>The reported </a:t>
            </a:r>
            <a:r>
              <a:rPr lang="en-IN" b="1" dirty="0"/>
              <a:t>accuracy (0.97)</a:t>
            </a:r>
            <a:r>
              <a:rPr lang="en-IN" dirty="0"/>
              <a:t> is inflated by a large proportion of O tokens (&gt;85%), hiding model failures on many classes.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Context limitations:</a:t>
            </a:r>
            <a:br>
              <a:rPr lang="en-IN" dirty="0"/>
            </a:br>
            <a:r>
              <a:rPr lang="en-IN" dirty="0"/>
              <a:t>The CRF model cannot capture: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Long-range dependencies,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Multi-token entities,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Full sentence or contextual features.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Surface feature dependency:</a:t>
            </a:r>
            <a:br>
              <a:rPr lang="en-IN" dirty="0"/>
            </a:br>
            <a:r>
              <a:rPr lang="en-IN" dirty="0"/>
              <a:t>Relies only on simple word-level features—struggles with nuanced, rare, or misspelled entities.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Generalization issue:</a:t>
            </a:r>
            <a:br>
              <a:rPr lang="en-IN" dirty="0"/>
            </a:br>
            <a:r>
              <a:rPr lang="en-IN" dirty="0"/>
              <a:t>The model generalizes only to the most common types—</a:t>
            </a:r>
            <a:r>
              <a:rPr lang="en-IN" b="1" dirty="0"/>
              <a:t>rare, complex, or domain-driven entities see F1-scores near zero</a:t>
            </a:r>
            <a:r>
              <a:rPr lang="en-IN" dirty="0"/>
              <a:t>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Implication:</a:t>
            </a:r>
            <a:br>
              <a:rPr lang="en-IN" dirty="0"/>
            </a:br>
            <a:r>
              <a:rPr lang="en-IN" dirty="0"/>
              <a:t>Classic CRF models with local features </a:t>
            </a:r>
            <a:r>
              <a:rPr lang="en-IN" b="1" dirty="0"/>
              <a:t>struggle for robust, real-world NER</a:t>
            </a:r>
            <a:r>
              <a:rPr lang="en-IN" dirty="0"/>
              <a:t>.</a:t>
            </a:r>
            <a:br>
              <a:rPr lang="en-IN" dirty="0"/>
            </a:br>
            <a:r>
              <a:rPr lang="en-IN" i="1" dirty="0"/>
              <a:t>Need to move toward deep models using richer context, character-level, and semantic features for true production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82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5BE0-2804-CF28-F6E6-FF0E68A0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Advanced Model (</a:t>
            </a:r>
            <a:r>
              <a:rPr lang="en-IN" b="0" i="0" dirty="0" err="1">
                <a:effectLst/>
                <a:latin typeface="fkGroteskNeue"/>
              </a:rPr>
              <a:t>BiLSTM</a:t>
            </a:r>
            <a:r>
              <a:rPr lang="en-IN" b="0" i="0" dirty="0">
                <a:effectLst/>
                <a:latin typeface="fkGroteskNeue"/>
              </a:rPr>
              <a:t>-CRF)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494B-D9A9-02BC-8FB8-5811AF8BC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"/>
            <a:ext cx="7315200" cy="68580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Architecture: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1" dirty="0">
                <a:effectLst/>
                <a:latin typeface="fkGroteskNeue"/>
              </a:rPr>
              <a:t>Input:</a:t>
            </a:r>
            <a:r>
              <a:rPr lang="en-IN" sz="1200" b="0" i="0" dirty="0">
                <a:effectLst/>
                <a:latin typeface="fkGroteskNeue"/>
              </a:rPr>
              <a:t> Sequence of words per sentence (converted to index via vocabulary mapping)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1" dirty="0">
                <a:effectLst/>
                <a:latin typeface="fkGroteskNeue"/>
              </a:rPr>
              <a:t>Embedding Layer:</a:t>
            </a:r>
            <a:r>
              <a:rPr lang="en-IN" sz="1200" b="0" i="0" dirty="0">
                <a:effectLst/>
                <a:latin typeface="fkGroteskNeue"/>
              </a:rPr>
              <a:t> Converts word indices to dense vectors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1" dirty="0">
                <a:effectLst/>
                <a:latin typeface="fkGroteskNeue"/>
              </a:rPr>
              <a:t>Bidirectional LSTM:</a:t>
            </a:r>
            <a:r>
              <a:rPr lang="en-IN" sz="1200" b="0" i="0" dirty="0">
                <a:effectLst/>
                <a:latin typeface="fkGroteskNeue"/>
              </a:rPr>
              <a:t> Processes input from left and right to capture deeper context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1" dirty="0">
                <a:effectLst/>
                <a:latin typeface="fkGroteskNeue"/>
              </a:rPr>
              <a:t>Dense layer or CRF Layer:</a:t>
            </a:r>
            <a:r>
              <a:rPr lang="en-IN" sz="1200" b="0" i="0" dirty="0">
                <a:effectLst/>
                <a:latin typeface="fkGroteskNeue"/>
              </a:rPr>
              <a:t> Outputs probability distribution over NER tags per word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1" dirty="0">
                <a:effectLst/>
                <a:latin typeface="fkGroteskNeue"/>
              </a:rPr>
              <a:t>Decoding (CRF):</a:t>
            </a:r>
            <a:r>
              <a:rPr lang="en-IN" sz="1200" b="0" i="0" dirty="0">
                <a:effectLst/>
                <a:latin typeface="fkGroteskNeue"/>
              </a:rPr>
              <a:t> Ensures valid IOB tag sequences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Code Summary:</a:t>
            </a:r>
            <a:br>
              <a:rPr lang="en-IN" sz="1400" b="0" i="0" dirty="0">
                <a:effectLst/>
                <a:latin typeface="fkGroteskNeue"/>
              </a:rPr>
            </a:br>
            <a:r>
              <a:rPr lang="en-IN" sz="1400" b="0" i="0" dirty="0">
                <a:effectLst/>
                <a:latin typeface="fkGroteskNeue"/>
              </a:rPr>
              <a:t>Model code uses TensorFlow/</a:t>
            </a:r>
            <a:r>
              <a:rPr lang="en-IN" sz="1400" b="0" i="0" dirty="0" err="1">
                <a:effectLst/>
                <a:latin typeface="fkGroteskNeue"/>
              </a:rPr>
              <a:t>Keras</a:t>
            </a:r>
            <a:r>
              <a:rPr lang="en-IN" sz="1400" b="0" i="0" dirty="0">
                <a:effectLst/>
                <a:latin typeface="fkGroteskNeue"/>
              </a:rPr>
              <a:t>; Embedding (64 units) → </a:t>
            </a:r>
            <a:r>
              <a:rPr lang="en-IN" sz="1400" b="0" i="0" dirty="0" err="1">
                <a:effectLst/>
                <a:latin typeface="fkGroteskNeue"/>
              </a:rPr>
              <a:t>BiLSTM</a:t>
            </a:r>
            <a:r>
              <a:rPr lang="en-IN" sz="1400" b="0" i="0" dirty="0">
                <a:effectLst/>
                <a:latin typeface="fkGroteskNeue"/>
              </a:rPr>
              <a:t> (64 units) → Dense output layer over all tags (</a:t>
            </a:r>
            <a:r>
              <a:rPr lang="en-IN" sz="1400" b="0" i="0" dirty="0" err="1">
                <a:effectLst/>
                <a:latin typeface="fkGroteskNeue"/>
              </a:rPr>
              <a:t>softmax</a:t>
            </a:r>
            <a:r>
              <a:rPr lang="en-IN" sz="1400" b="0" i="0" dirty="0">
                <a:effectLst/>
                <a:latin typeface="fkGroteskNeue"/>
              </a:rPr>
              <a:t> for simple baseline), with CRF decoding.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Evaluation Metrics: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Precision, Recall, F1-score (micro, macro, weighted averages)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Entity-level vs token-level metrics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Highlights: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Micro F1-score: Improved from 0.60 (CRF) to 0.81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Entity-level improvement: Frequent classes like geo, </a:t>
            </a:r>
            <a:r>
              <a:rPr lang="en-IN" sz="1200" b="0" i="0" dirty="0" err="1">
                <a:effectLst/>
                <a:latin typeface="fkGroteskNeue"/>
              </a:rPr>
              <a:t>gpe</a:t>
            </a:r>
            <a:r>
              <a:rPr lang="en-IN" sz="1200" b="0" i="0" dirty="0">
                <a:effectLst/>
                <a:latin typeface="fkGroteskNeue"/>
              </a:rPr>
              <a:t>, </a:t>
            </a:r>
            <a:r>
              <a:rPr lang="en-IN" sz="1200" b="0" i="0" dirty="0" err="1">
                <a:effectLst/>
                <a:latin typeface="fkGroteskNeue"/>
              </a:rPr>
              <a:t>tim</a:t>
            </a:r>
            <a:r>
              <a:rPr lang="en-IN" sz="1200" b="0" i="0" dirty="0">
                <a:effectLst/>
                <a:latin typeface="fkGroteskNeue"/>
              </a:rPr>
              <a:t> F1 lifts to 0.84–0.95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Moderate gain for org/per: F1 for org/person now 0.66–0.70 (still not at minority class levels)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Rare classes: Persistent challenge, F1 for art, </a:t>
            </a:r>
            <a:r>
              <a:rPr lang="en-IN" sz="1200" b="0" i="0" dirty="0" err="1">
                <a:effectLst/>
                <a:latin typeface="fkGroteskNeue"/>
              </a:rPr>
              <a:t>nat</a:t>
            </a:r>
            <a:r>
              <a:rPr lang="en-IN" sz="1200" b="0" i="0" dirty="0">
                <a:effectLst/>
                <a:latin typeface="fkGroteskNeue"/>
              </a:rPr>
              <a:t> stays at 0.00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Limitations: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Class imbalance: Rare entity detection is poor (needs augmentation/weighted loss)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fkGroteskNeue"/>
              </a:rPr>
              <a:t>Macro F1: 0.55, reflecting continuing weakness on rare tags despite overall improvement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Conclusion:</a:t>
            </a:r>
            <a:br>
              <a:rPr lang="en-IN" sz="1400" b="0" i="0" dirty="0">
                <a:effectLst/>
                <a:latin typeface="fkGroteskNeue"/>
              </a:rPr>
            </a:br>
            <a:r>
              <a:rPr lang="en-IN" sz="1400" b="0" i="0" dirty="0">
                <a:effectLst/>
                <a:latin typeface="fkGroteskNeue"/>
              </a:rPr>
              <a:t>Deep models (</a:t>
            </a:r>
            <a:r>
              <a:rPr lang="en-IN" sz="1400" b="0" i="0" dirty="0" err="1">
                <a:effectLst/>
                <a:latin typeface="fkGroteskNeue"/>
              </a:rPr>
              <a:t>BiLSTM</a:t>
            </a:r>
            <a:r>
              <a:rPr lang="en-IN" sz="1400" b="0" i="0" dirty="0">
                <a:effectLst/>
                <a:latin typeface="fkGroteskNeue"/>
              </a:rPr>
              <a:t>-CRF) use more context and capture entity patterns, greatly improving NER over simple CRF but still require optimization for minority class coverage.</a:t>
            </a:r>
          </a:p>
        </p:txBody>
      </p:sp>
    </p:spTree>
    <p:extLst>
      <p:ext uri="{BB962C8B-B14F-4D97-AF65-F5344CB8AC3E}">
        <p14:creationId xmlns:p14="http://schemas.microsoft.com/office/powerpoint/2010/main" val="411826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47F9-20B4-BF59-5CBC-F6847CEB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Advanced Model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AF6C-B0B6-9A3F-9C06-2DE20808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6683" y="564022"/>
            <a:ext cx="4691641" cy="561294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dirty="0" err="1">
                <a:effectLst/>
                <a:latin typeface="fkGroteskNeue"/>
              </a:rPr>
              <a:t>BiLSTM</a:t>
            </a:r>
            <a:r>
              <a:rPr lang="en-IN" sz="1800" b="0" i="0" dirty="0">
                <a:effectLst/>
                <a:latin typeface="fkGroteskNeue"/>
              </a:rPr>
              <a:t>-CRF Model Results (Validation Data): </a:t>
            </a:r>
            <a:r>
              <a:rPr lang="en-IN" sz="1800" b="0" i="1" dirty="0">
                <a:effectLst/>
                <a:latin typeface="fkGroteskNeue"/>
              </a:rPr>
              <a:t>Given in table</a:t>
            </a:r>
            <a:endParaRPr lang="en-IN" sz="1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dirty="0">
                <a:effectLst/>
                <a:latin typeface="fkGroteskNeue"/>
              </a:rPr>
              <a:t>Comparison with CRF Baseline: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Micro </a:t>
            </a:r>
            <a:r>
              <a:rPr lang="en-IN" sz="1600" b="0" i="0" dirty="0" err="1">
                <a:effectLst/>
                <a:latin typeface="fkGroteskNeue"/>
              </a:rPr>
              <a:t>avg</a:t>
            </a:r>
            <a:r>
              <a:rPr lang="en-IN" sz="1600" b="0" i="0" dirty="0">
                <a:effectLst/>
                <a:latin typeface="fkGroteskNeue"/>
              </a:rPr>
              <a:t> F1 improved from 0.60 to 0.81.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All frequent entity classes show substantial uplift.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Rare classes (art, </a:t>
            </a:r>
            <a:r>
              <a:rPr lang="en-IN" sz="1600" b="0" i="0" dirty="0" err="1">
                <a:effectLst/>
                <a:latin typeface="fkGroteskNeue"/>
              </a:rPr>
              <a:t>nat</a:t>
            </a:r>
            <a:r>
              <a:rPr lang="en-IN" sz="1600" b="0" i="0" dirty="0">
                <a:effectLst/>
                <a:latin typeface="fkGroteskNeue"/>
              </a:rPr>
              <a:t>): Still have F1 = 0 (no improvement).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Macro </a:t>
            </a:r>
            <a:r>
              <a:rPr lang="en-IN" sz="1600" b="0" i="0" dirty="0" err="1">
                <a:effectLst/>
                <a:latin typeface="fkGroteskNeue"/>
              </a:rPr>
              <a:t>avg</a:t>
            </a:r>
            <a:r>
              <a:rPr lang="en-IN" sz="1600" b="0" i="0" dirty="0">
                <a:effectLst/>
                <a:latin typeface="fkGroteskNeue"/>
              </a:rPr>
              <a:t> F1 remains low (0.55) due to poor rare class performance.</a:t>
            </a:r>
          </a:p>
          <a:p>
            <a:pPr algn="l"/>
            <a:r>
              <a:rPr lang="en-IN" sz="1800" b="0" i="0" dirty="0">
                <a:effectLst/>
                <a:latin typeface="fkGroteskNeue"/>
              </a:rPr>
              <a:t>Key takeaway:</a:t>
            </a:r>
            <a:br>
              <a:rPr lang="en-IN" sz="1800" b="0" i="0" dirty="0">
                <a:effectLst/>
                <a:latin typeface="fkGroteskNeue"/>
              </a:rPr>
            </a:br>
            <a:r>
              <a:rPr lang="en-IN" sz="1800" b="0" i="0" dirty="0" err="1">
                <a:effectLst/>
                <a:latin typeface="fkGroteskNeue"/>
              </a:rPr>
              <a:t>BiLSTM</a:t>
            </a:r>
            <a:r>
              <a:rPr lang="en-IN" sz="1800" b="0" i="0" dirty="0">
                <a:effectLst/>
                <a:latin typeface="fkGroteskNeue"/>
              </a:rPr>
              <a:t>-CRF significantly improves performance on common entities, but </a:t>
            </a:r>
            <a:r>
              <a:rPr lang="en-IN" sz="1800" b="0" i="1" dirty="0">
                <a:effectLst/>
                <a:latin typeface="fkGroteskNeue"/>
              </a:rPr>
              <a:t>further methods needed</a:t>
            </a:r>
            <a:r>
              <a:rPr lang="en-IN" sz="1800" b="0" i="0" dirty="0">
                <a:effectLst/>
                <a:latin typeface="fkGroteskNeue"/>
              </a:rPr>
              <a:t> (augmentation, class weighting, transformer models) for robust coverage of rare or domain-specific NER tags.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0663F2-1A29-A98E-4FBD-68AE15689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145485"/>
              </p:ext>
            </p:extLst>
          </p:nvPr>
        </p:nvGraphicFramePr>
        <p:xfrm>
          <a:off x="8178325" y="673225"/>
          <a:ext cx="3640510" cy="5486646"/>
        </p:xfrm>
        <a:graphic>
          <a:graphicData uri="http://schemas.openxmlformats.org/drawingml/2006/table">
            <a:tbl>
              <a:tblPr/>
              <a:tblGrid>
                <a:gridCol w="728102">
                  <a:extLst>
                    <a:ext uri="{9D8B030D-6E8A-4147-A177-3AD203B41FA5}">
                      <a16:colId xmlns:a16="http://schemas.microsoft.com/office/drawing/2014/main" val="2396354765"/>
                    </a:ext>
                  </a:extLst>
                </a:gridCol>
                <a:gridCol w="728102">
                  <a:extLst>
                    <a:ext uri="{9D8B030D-6E8A-4147-A177-3AD203B41FA5}">
                      <a16:colId xmlns:a16="http://schemas.microsoft.com/office/drawing/2014/main" val="2573877377"/>
                    </a:ext>
                  </a:extLst>
                </a:gridCol>
                <a:gridCol w="728102">
                  <a:extLst>
                    <a:ext uri="{9D8B030D-6E8A-4147-A177-3AD203B41FA5}">
                      <a16:colId xmlns:a16="http://schemas.microsoft.com/office/drawing/2014/main" val="2126304379"/>
                    </a:ext>
                  </a:extLst>
                </a:gridCol>
                <a:gridCol w="728102">
                  <a:extLst>
                    <a:ext uri="{9D8B030D-6E8A-4147-A177-3AD203B41FA5}">
                      <a16:colId xmlns:a16="http://schemas.microsoft.com/office/drawing/2014/main" val="3320519818"/>
                    </a:ext>
                  </a:extLst>
                </a:gridCol>
                <a:gridCol w="728102">
                  <a:extLst>
                    <a:ext uri="{9D8B030D-6E8A-4147-A177-3AD203B41FA5}">
                      <a16:colId xmlns:a16="http://schemas.microsoft.com/office/drawing/2014/main" val="351470414"/>
                    </a:ext>
                  </a:extLst>
                </a:gridCol>
              </a:tblGrid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Entity/Tag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Precision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Recall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F1-score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effectLst/>
                        </a:rPr>
                        <a:t>Support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52851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effectLst/>
                        </a:rPr>
                        <a:t>geo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3870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881172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gpe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0.95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0.94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0.95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1528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774834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tim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0.84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0.84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2056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44635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org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0.68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0.65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0.66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2023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320160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per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0.68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0.73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0.70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1594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848506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eve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0.60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0.31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0.41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29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920839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art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41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621643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nat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18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46306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Micro avg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effectLst/>
                        </a:rPr>
                        <a:t>0.81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11159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036678"/>
                  </a:ext>
                </a:extLst>
              </a:tr>
              <a:tr h="434827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Macro avg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0.58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0.54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0.55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11159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763027"/>
                  </a:ext>
                </a:extLst>
              </a:tr>
              <a:tr h="703549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Weighted avg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effectLst/>
                        </a:rPr>
                        <a:t>0.80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dirty="0">
                          <a:effectLst/>
                        </a:rPr>
                        <a:t>11159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28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49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5EC7-7CDB-3479-AC41-8FD1DC73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Future Scope &amp; Optimizations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9E406-E4D7-096D-D733-3404B3B44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1" dirty="0">
                <a:effectLst/>
                <a:latin typeface="fkGroteskNeue"/>
              </a:rPr>
              <a:t>Improving NER for rare/minority classes &amp; production robustness:</a:t>
            </a:r>
            <a:endParaRPr lang="en-IN" b="0" i="0" dirty="0">
              <a:effectLst/>
              <a:latin typeface="fkGroteskNeu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Imbalanced Data Handling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Apply class weighting in loss functions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Oversample rare entity sentences or use synthetic data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Advanced Embeddings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Use pre-trained word vectors (</a:t>
            </a:r>
            <a:r>
              <a:rPr lang="en-IN" b="0" i="0" dirty="0" err="1">
                <a:effectLst/>
                <a:latin typeface="fkGroteskNeue"/>
              </a:rPr>
              <a:t>GloVe</a:t>
            </a:r>
            <a:r>
              <a:rPr lang="en-IN" b="0" i="0" dirty="0">
                <a:effectLst/>
                <a:latin typeface="fkGroteskNeue"/>
              </a:rPr>
              <a:t>, </a:t>
            </a:r>
            <a:r>
              <a:rPr lang="en-IN" b="0" i="0" dirty="0" err="1">
                <a:effectLst/>
                <a:latin typeface="fkGroteskNeue"/>
              </a:rPr>
              <a:t>FastText</a:t>
            </a:r>
            <a:r>
              <a:rPr lang="en-IN" b="0" i="0" dirty="0">
                <a:effectLst/>
                <a:latin typeface="fkGroteskNeue"/>
              </a:rPr>
              <a:t>) or contextualized embeddings (</a:t>
            </a:r>
            <a:r>
              <a:rPr lang="en-IN" b="0" i="0" dirty="0" err="1">
                <a:effectLst/>
                <a:latin typeface="fkGroteskNeue"/>
              </a:rPr>
              <a:t>ELMo</a:t>
            </a:r>
            <a:r>
              <a:rPr lang="en-IN" b="0" i="0" dirty="0">
                <a:effectLst/>
                <a:latin typeface="fkGroteskNeue"/>
              </a:rPr>
              <a:t>, BERT)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Character-Level </a:t>
            </a:r>
            <a:r>
              <a:rPr lang="en-IN" b="0" i="0" dirty="0" err="1">
                <a:effectLst/>
                <a:latin typeface="fkGroteskNeue"/>
              </a:rPr>
              <a:t>Modeling</a:t>
            </a:r>
            <a:endParaRPr lang="en-IN" b="0" i="0" dirty="0">
              <a:effectLst/>
              <a:latin typeface="fkGroteskNeue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Integrate character-level CNN/LSTM features for better handling of rare, misspelled, or out-of-vocabulary words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Transformer Architectures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Upgrade to BERT-CRF or vanilla BERT token classification for state-of-the-art NER accuracy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Active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Prioritize annotation for uncertain predictions to grow </a:t>
            </a:r>
            <a:r>
              <a:rPr lang="en-IN" b="0" i="0" dirty="0" err="1">
                <a:effectLst/>
                <a:latin typeface="fkGroteskNeue"/>
              </a:rPr>
              <a:t>labeled</a:t>
            </a:r>
            <a:r>
              <a:rPr lang="en-IN" b="0" i="0" dirty="0">
                <a:effectLst/>
                <a:latin typeface="fkGroteskNeue"/>
              </a:rPr>
              <a:t> data efficiently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Ensemble Methods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Combine predictions from multiple models (CRF, </a:t>
            </a:r>
            <a:r>
              <a:rPr lang="en-IN" b="0" i="0" dirty="0" err="1">
                <a:effectLst/>
                <a:latin typeface="fkGroteskNeue"/>
              </a:rPr>
              <a:t>BiLSTM</a:t>
            </a:r>
            <a:r>
              <a:rPr lang="en-IN" b="0" i="0" dirty="0">
                <a:effectLst/>
                <a:latin typeface="fkGroteskNeue"/>
              </a:rPr>
              <a:t>, BERT, etc.) for robust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Domain Adaptation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Pretrain or fine-tune on relevant industry-specific corpora for better fit</a:t>
            </a:r>
          </a:p>
          <a:p>
            <a:pPr algn="l"/>
            <a:r>
              <a:rPr lang="en-IN" b="0" i="0" dirty="0">
                <a:effectLst/>
                <a:latin typeface="fkGroteskNeue"/>
              </a:rPr>
              <a:t>Summary:</a:t>
            </a:r>
            <a:br>
              <a:rPr lang="en-IN" b="0" i="0" dirty="0">
                <a:effectLst/>
                <a:latin typeface="fkGroteskNeue"/>
              </a:rPr>
            </a:br>
            <a:r>
              <a:rPr lang="en-IN" dirty="0">
                <a:latin typeface="fkGroteskNeue"/>
              </a:rPr>
              <a:t>Need to </a:t>
            </a:r>
            <a:r>
              <a:rPr lang="en-IN" b="0" i="0" dirty="0">
                <a:effectLst/>
                <a:latin typeface="fkGroteskNeue"/>
              </a:rPr>
              <a:t>Focus future work on minority class improvement, advanced context </a:t>
            </a:r>
            <a:r>
              <a:rPr lang="en-IN" b="0" i="0" dirty="0" err="1">
                <a:effectLst/>
                <a:latin typeface="fkGroteskNeue"/>
              </a:rPr>
              <a:t>modeling</a:t>
            </a:r>
            <a:r>
              <a:rPr lang="en-IN" b="0" i="0" dirty="0">
                <a:effectLst/>
                <a:latin typeface="fkGroteskNeue"/>
              </a:rPr>
              <a:t>, and automated data </a:t>
            </a:r>
            <a:r>
              <a:rPr lang="en-IN" b="0" i="0" dirty="0" err="1">
                <a:effectLst/>
                <a:latin typeface="fkGroteskNeue"/>
              </a:rPr>
              <a:t>labeling</a:t>
            </a:r>
            <a:r>
              <a:rPr lang="en-IN" b="0" i="0" dirty="0">
                <a:effectLst/>
                <a:latin typeface="fkGroteskNeue"/>
              </a:rPr>
              <a:t>. Move toward transformer-based/ensemble systems for production-grade NER performance</a:t>
            </a:r>
          </a:p>
        </p:txBody>
      </p:sp>
    </p:spTree>
    <p:extLst>
      <p:ext uri="{BB962C8B-B14F-4D97-AF65-F5344CB8AC3E}">
        <p14:creationId xmlns:p14="http://schemas.microsoft.com/office/powerpoint/2010/main" val="74236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A5FE-6D1A-5B56-DE7C-C9BD0462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Production System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C2804-E1E6-36D1-267B-DDC9996A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1" dirty="0">
                <a:effectLst/>
                <a:latin typeface="fkGroteskNeue"/>
              </a:rPr>
              <a:t>How to deploy, scale, and monitor NER model in production:</a:t>
            </a:r>
            <a:endParaRPr lang="en-IN" b="0" i="0" dirty="0">
              <a:effectLst/>
              <a:latin typeface="fkGroteskNeu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System Architecture: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ML Model API Service: Deploy NER as a RESTful API (</a:t>
            </a:r>
            <a:r>
              <a:rPr lang="en-IN" b="0" i="0" dirty="0" err="1">
                <a:effectLst/>
                <a:latin typeface="fkGroteskNeue"/>
              </a:rPr>
              <a:t>FastAPI</a:t>
            </a:r>
            <a:r>
              <a:rPr lang="en-IN" b="0" i="0" dirty="0">
                <a:effectLst/>
                <a:latin typeface="fkGroteskNeue"/>
              </a:rPr>
              <a:t> or Flask), containerized via Docker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Orchestration/Scaling: Use Kubernetes or AWS ECS for load balancing, auto-scaling multiple model containers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Model Registry: Track model versions &amp; artifacts using </a:t>
            </a:r>
            <a:r>
              <a:rPr lang="en-IN" b="0" i="0" dirty="0" err="1">
                <a:effectLst/>
                <a:latin typeface="fkGroteskNeue"/>
              </a:rPr>
              <a:t>MLflow</a:t>
            </a:r>
            <a:r>
              <a:rPr lang="en-IN" b="0" i="0" dirty="0">
                <a:effectLst/>
                <a:latin typeface="fkGroteskNeue"/>
              </a:rPr>
              <a:t> or AWS </a:t>
            </a:r>
            <a:r>
              <a:rPr lang="en-IN" b="0" i="0" dirty="0" err="1">
                <a:effectLst/>
                <a:latin typeface="fkGroteskNeue"/>
              </a:rPr>
              <a:t>SageMaker</a:t>
            </a:r>
            <a:endParaRPr lang="en-IN" b="0" i="0" dirty="0">
              <a:effectLst/>
              <a:latin typeface="fkGroteskNeu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Canary Deployment: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Route 5–10% of traffic to new deployed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Monitor entity-level F1, latency, API errors during canary phase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Roll forward if healthy—rollback if degraded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ML Monitoring &amp; Logging: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Track real-time metrics, operational logs, and data drift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Request/response logging for predictions (ELK Stack, CloudWatch)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Data/schema drift detection with statistical tests (e.g., KL divergence)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Load/Stress Testing: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Use Locust, JMeter, or k6 to simulate production loads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Benchmark latency/throughput, scale infrastructure as needed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Training Audit &amp; Tracking: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Track hyperparameters, training epochs, dataset versions, and results using </a:t>
            </a:r>
            <a:r>
              <a:rPr lang="en-IN" b="0" i="0" dirty="0" err="1">
                <a:effectLst/>
                <a:latin typeface="fkGroteskNeue"/>
              </a:rPr>
              <a:t>MLflow</a:t>
            </a:r>
            <a:r>
              <a:rPr lang="en-IN" b="0" i="0" dirty="0">
                <a:effectLst/>
                <a:latin typeface="fkGroteskNeue"/>
              </a:rPr>
              <a:t>/Weights &amp; Biases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Build version lineage for models (audit, rollback, re-training)</a:t>
            </a:r>
          </a:p>
          <a:p>
            <a:pPr lvl="1"/>
            <a:r>
              <a:rPr lang="en-IN" b="0" i="0" dirty="0">
                <a:effectLst/>
                <a:latin typeface="fkGroteskNeue"/>
              </a:rPr>
              <a:t>Result:</a:t>
            </a:r>
            <a:br>
              <a:rPr lang="en-IN" b="0" i="0" dirty="0">
                <a:effectLst/>
                <a:latin typeface="fkGroteskNeue"/>
              </a:rPr>
            </a:br>
            <a:r>
              <a:rPr lang="en-IN" b="0" i="0" dirty="0">
                <a:effectLst/>
                <a:latin typeface="fkGroteskNeue"/>
              </a:rPr>
              <a:t>Architecture enables robust, scalable, and auditable NER model deployment for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622763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CB51-7031-D414-E67A-EC6CAC99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CICD Automation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0FAF-D9F7-1FF6-DA92-9D0E69D7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Automated ML pipeline for reliable deployments: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Continuous Integration (CI):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Trigger: New code/data pushed to source repo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Automated unit/integration tests, code linting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Training jobs start automatically on updated datasets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Continuous Delivery (CD):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Validation gates for model quality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Automated deployment to model registry/staging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Approval workflows for production release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Tools: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GitLab CI/CD, Jenkins, AWS </a:t>
            </a:r>
            <a:r>
              <a:rPr lang="en-IN" b="0" i="0" dirty="0" err="1">
                <a:effectLst/>
                <a:latin typeface="fkGroteskNeue"/>
              </a:rPr>
              <a:t>CodePipeline</a:t>
            </a:r>
            <a:r>
              <a:rPr lang="en-IN" b="0" i="0" dirty="0">
                <a:effectLst/>
                <a:latin typeface="fkGroteskNeue"/>
              </a:rPr>
              <a:t>, GitHub Actions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Pipeline Stages: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Check code style &amp; tests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Trigger model retraining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Evaluate on holdout sets—if metrics threshold met, approve release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Register new model artifact/version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Deploy to production/K8s pod/Canary rollout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Benefits: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Reproducible training &amp; deployment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Rapid rollback/upgrade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Automated performance/quality checks</a:t>
            </a:r>
          </a:p>
          <a:p>
            <a:pPr algn="l"/>
            <a:r>
              <a:rPr lang="en-IN" b="0" i="0" dirty="0">
                <a:effectLst/>
                <a:latin typeface="fkGroteskNeue"/>
              </a:rPr>
              <a:t>CI/CD flow</a:t>
            </a:r>
          </a:p>
          <a:p>
            <a:pPr lvl="1"/>
            <a:r>
              <a:rPr lang="en-IN" b="0" i="0" dirty="0">
                <a:effectLst/>
                <a:latin typeface="fkGroteskNeue"/>
              </a:rPr>
              <a:t>source repo → test → train → validate → registry → deploy → monitor.</a:t>
            </a:r>
          </a:p>
        </p:txBody>
      </p:sp>
    </p:spTree>
    <p:extLst>
      <p:ext uri="{BB962C8B-B14F-4D97-AF65-F5344CB8AC3E}">
        <p14:creationId xmlns:p14="http://schemas.microsoft.com/office/powerpoint/2010/main" val="401650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F5EA-D532-9E2A-A967-5B8D3312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Deployment Sequence (Diagram &amp; Steps)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C7D6A-1FCC-4144-EAF1-1427FA2A6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lnSpc>
                <a:spcPct val="110000"/>
              </a:lnSpc>
            </a:pPr>
            <a:r>
              <a:rPr lang="en-IN" b="0" i="0" dirty="0">
                <a:effectLst/>
                <a:latin typeface="fkGroteskNeue"/>
              </a:rPr>
              <a:t>Deployment and Serving Workflow: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User submits NER request via client UI/HTTP API.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API Gateway/Load Balancer routes request to backend model service.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Model API Service (Docker container, </a:t>
            </a:r>
            <a:r>
              <a:rPr lang="en-IN" b="0" i="0" dirty="0" err="1">
                <a:effectLst/>
                <a:latin typeface="fkGroteskNeue"/>
              </a:rPr>
              <a:t>FastAPI</a:t>
            </a:r>
            <a:r>
              <a:rPr lang="en-IN" b="0" i="0" dirty="0">
                <a:effectLst/>
                <a:latin typeface="fkGroteskNeue"/>
              </a:rPr>
              <a:t>/Flask) runs model inference.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If needed, Model API Service checks/latest model from Model Registry (</a:t>
            </a:r>
            <a:r>
              <a:rPr lang="en-IN" b="0" i="0" dirty="0" err="1">
                <a:effectLst/>
                <a:latin typeface="fkGroteskNeue"/>
              </a:rPr>
              <a:t>MLflow</a:t>
            </a:r>
            <a:r>
              <a:rPr lang="en-IN" b="0" i="0" dirty="0">
                <a:effectLst/>
                <a:latin typeface="fkGroteskNeue"/>
              </a:rPr>
              <a:t>/</a:t>
            </a:r>
            <a:r>
              <a:rPr lang="en-IN" b="0" i="0" dirty="0" err="1">
                <a:effectLst/>
                <a:latin typeface="fkGroteskNeue"/>
              </a:rPr>
              <a:t>SageMaker</a:t>
            </a:r>
            <a:r>
              <a:rPr lang="en-IN" b="0" i="0" dirty="0">
                <a:effectLst/>
                <a:latin typeface="fkGroteskNeue"/>
              </a:rPr>
              <a:t>) and loads into memory.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Model processes text, returns entity predictions to client.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Monitoring service (Prometheus, CloudWatch) receives inference metrics (latency, F1, errors).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Log aggregation system stores logs/metrics for audit (ELK Stack, CloudWatch Logs).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If canary rollout, only portion (5–10%) of traffic hits new pod—metrics tracked, auto-rollback if necessary.</a:t>
            </a:r>
          </a:p>
          <a:p>
            <a:pPr lvl="1">
              <a:lnSpc>
                <a:spcPct val="110000"/>
              </a:lnSpc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Infrastructure orchestrated via Kubernetes/AWS ECS for scaling &amp; failover.</a:t>
            </a:r>
          </a:p>
          <a:p>
            <a:pPr algn="l">
              <a:lnSpc>
                <a:spcPct val="110000"/>
              </a:lnSpc>
            </a:pPr>
            <a:r>
              <a:rPr lang="en-IN" b="0" i="0" dirty="0">
                <a:effectLst/>
                <a:latin typeface="fkGroteskNeue"/>
              </a:rPr>
              <a:t>Visual Sequence Diagram (Abstract):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User → API Gateway → Model Service → Model Registry → Monitoring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Canary/Blue-Green rollout: Route % traffic to new model, track metrics, auto-update or rollback</a:t>
            </a:r>
          </a:p>
        </p:txBody>
      </p:sp>
    </p:spTree>
    <p:extLst>
      <p:ext uri="{BB962C8B-B14F-4D97-AF65-F5344CB8AC3E}">
        <p14:creationId xmlns:p14="http://schemas.microsoft.com/office/powerpoint/2010/main" val="321503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3A0E9D4C-C868-CEDD-B878-6D4BDCB5A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233"/>
            <a:ext cx="12192000" cy="511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4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6F90-A35F-2A60-3ABC-851E2F75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fkGroteskNeue"/>
              </a:rPr>
              <a:t>Key Learnings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E384-18D6-DA7D-13E4-5E04921F4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Model selection matters: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Traditional CRF models are fast for baseline, but </a:t>
            </a:r>
            <a:r>
              <a:rPr lang="en-IN" b="0" i="0" dirty="0" err="1">
                <a:effectLst/>
                <a:latin typeface="fkGroteskNeue"/>
              </a:rPr>
              <a:t>BiLSTM</a:t>
            </a:r>
            <a:r>
              <a:rPr lang="en-IN" b="0" i="0" dirty="0">
                <a:effectLst/>
                <a:latin typeface="fkGroteskNeue"/>
              </a:rPr>
              <a:t>-CRF captures deeper sentence context, improving entity recognition, especially for major classes.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Minority class detection: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Class imbalance causes misleading accuracy. Focus on macro-average F1 and rare class metrics, not just overall accuracy.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Feature engineering: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Richer features (embeddings, character-level, context windows) drive robust model performance.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Production architecture: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Model APIs must be scalable, auditable, and monitored—automation with CI/CD improves delivery velocity and safety.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Canary deployment: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Ensure new versions work with real production traffic before full rollout (reduces risk).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ML monitoring:</a:t>
            </a:r>
          </a:p>
          <a:p>
            <a:pPr marL="742950" lvl="1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Ongoing drift detection, latency/error alerting needed for reliability</a:t>
            </a:r>
          </a:p>
        </p:txBody>
      </p:sp>
    </p:spTree>
    <p:extLst>
      <p:ext uri="{BB962C8B-B14F-4D97-AF65-F5344CB8AC3E}">
        <p14:creationId xmlns:p14="http://schemas.microsoft.com/office/powerpoint/2010/main" val="2770025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2DB8-E3CC-1E0D-14AD-CF23359C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60002551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{63D1AE1C-F596-8640-80BE-D00EB659AE36}tf10001124</Template>
  <TotalTime>53</TotalTime>
  <Words>2326</Words>
  <Application>Microsoft Macintosh PowerPoint</Application>
  <PresentationFormat>Widescreen</PresentationFormat>
  <Paragraphs>325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Corbel</vt:lpstr>
      <vt:lpstr>fkGroteskNeue</vt:lpstr>
      <vt:lpstr>Wingdings 2</vt:lpstr>
      <vt:lpstr>Frame</vt:lpstr>
      <vt:lpstr>Named Entity Recognition (NER) - Case Study</vt:lpstr>
      <vt:lpstr>Problem Statement &amp; Objectives</vt:lpstr>
      <vt:lpstr>Dataset Overview</vt:lpstr>
      <vt:lpstr>Tasks Overview</vt:lpstr>
      <vt:lpstr>Data Preparation</vt:lpstr>
      <vt:lpstr>Baseline Model Approach (CRF)</vt:lpstr>
      <vt:lpstr>Baseline Model Results</vt:lpstr>
      <vt:lpstr>Model Shortcomings</vt:lpstr>
      <vt:lpstr>Advanced Model (BiLSTM-CRF)</vt:lpstr>
      <vt:lpstr>Advanced Model Results</vt:lpstr>
      <vt:lpstr>Future Scope &amp; Optimizations</vt:lpstr>
      <vt:lpstr>Production System Design</vt:lpstr>
      <vt:lpstr>CICD Automation</vt:lpstr>
      <vt:lpstr>Deployment Sequence (Diagram &amp; Steps)</vt:lpstr>
      <vt:lpstr>PowerPoint Presentation</vt:lpstr>
      <vt:lpstr>Key Learnings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Tidke</dc:creator>
  <cp:lastModifiedBy>Pradeep Tidke</cp:lastModifiedBy>
  <cp:revision>12</cp:revision>
  <dcterms:created xsi:type="dcterms:W3CDTF">2025-10-09T13:08:51Z</dcterms:created>
  <dcterms:modified xsi:type="dcterms:W3CDTF">2025-10-09T14:02:32Z</dcterms:modified>
</cp:coreProperties>
</file>